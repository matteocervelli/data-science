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6" Type="http://schemas.openxmlformats.org/officeDocument/2006/relationships/viewProps" Target="viewProps.xml" /><Relationship Id="rId15" Type="http://schemas.openxmlformats.org/officeDocument/2006/relationships/presProps" Target="presProps.xml" /><Relationship Id="rId1" Type="http://schemas.openxmlformats.org/officeDocument/2006/relationships/slideMaster" Target="slideMasters/slideMaster1.xml" /><Relationship Id="rId18" Type="http://schemas.openxmlformats.org/officeDocument/2006/relationships/tableStyles" Target="tableStyles.xml" /><Relationship Id="rId1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ommunity.rstudio.com/#"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sciencedirect.com/science/article/pii/S2352340918315191" TargetMode="External" /><Relationship Id="rId3" Type="http://schemas.openxmlformats.org/officeDocument/2006/relationships/hyperlink" Target="https://github.com/rfordatascience/tidytuesday/blob/master/data/2020/2020-02-11/readme.md" TargetMode="External" /><Relationship Id="rId4" Type="http://schemas.openxmlformats.org/officeDocument/2006/relationships/hyperlink" Target="https://www.kaggle.com/jessemostipak/hotel-booking-demand"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Lesson 3: Aesthetics Solutions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Aesthetics and visualizations activity solutions</a:t>
            </a:r>
          </a:p>
        </p:txBody>
      </p:sp>
      <p:sp>
        <p:nvSpPr>
          <p:cNvPr id="3" name="Content Placeholder 2"/>
          <p:cNvSpPr>
            <a:spLocks noGrp="1"/>
          </p:cNvSpPr>
          <p:nvPr>
            <p:ph idx="1"/>
          </p:nvPr>
        </p:nvSpPr>
        <p:spPr/>
        <p:txBody>
          <a:bodyPr/>
          <a:lstStyle/>
          <a:p>
            <a:pPr lvl="0" indent="0" marL="0">
              <a:buNone/>
            </a:pPr>
            <a:r>
              <a:rPr/>
              <a:t>This document contains the solutions for the aesthetics and visualizations activity. You can use these solutions to check your work and ensure that your code is correct or troubleshoot your code if it is returning errors. If you haven’t completed the activity yet, we suggest you go back and finish it before reading the solutions.</a:t>
            </a:r>
          </a:p>
          <a:p>
            <a:pPr lvl="0" indent="0" marL="0">
              <a:buNone/>
            </a:pPr>
            <a:r>
              <a:rPr/>
              <a:t>If you experience errors, remember that you can search the internet and the RStudio community for help: </a:t>
            </a:r>
            <a:r>
              <a:rPr>
                <a:hlinkClick r:id="rId2"/>
              </a:rPr>
              <a:t>https://community.rstudio.com/#</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1: Import your data</a:t>
            </a:r>
          </a:p>
        </p:txBody>
      </p:sp>
      <p:sp>
        <p:nvSpPr>
          <p:cNvPr id="3" name="Content Placeholder 2"/>
          <p:cNvSpPr>
            <a:spLocks noGrp="1"/>
          </p:cNvSpPr>
          <p:nvPr>
            <p:ph idx="1"/>
          </p:nvPr>
        </p:nvSpPr>
        <p:spPr/>
        <p:txBody>
          <a:bodyPr/>
          <a:lstStyle/>
          <a:p>
            <a:pPr lvl="0" indent="0" marL="0">
              <a:buNone/>
            </a:pPr>
            <a:r>
              <a:rPr/>
              <a:t>If you haven’t exited out of RStudio since importing this data last time, you can skip these steps. Rerunning these code chunks won’t affect your console if you want to run them just in case, though.</a:t>
            </a:r>
          </a:p>
          <a:p>
            <a:pPr lvl="0" indent="0" marL="0">
              <a:buNone/>
            </a:pPr>
            <a:r>
              <a:rPr/>
              <a:t>The data in this example is originally from the article Hotel Booking Demand Datasets (</a:t>
            </a:r>
            <a:r>
              <a:rPr>
                <a:hlinkClick r:id="rId2"/>
              </a:rPr>
              <a:t>https://www.sciencedirect.com/science/article/pii/S2352340918315191</a:t>
            </a:r>
            <a:r>
              <a:rPr/>
              <a:t>), written by Nuno Antonio, Ana Almeida, and Luis Nunes for Data in Brief, Volume 22, February 2019.</a:t>
            </a:r>
          </a:p>
          <a:p>
            <a:pPr lvl="0" indent="0" marL="0">
              <a:buNone/>
            </a:pPr>
            <a:r>
              <a:rPr/>
              <a:t>The data was downloaded and cleaned by Thomas Mock and Antoine Bichat for #TidyTuesday during the week of February 11th, 2020 (</a:t>
            </a:r>
            <a:r>
              <a:rPr>
                <a:hlinkClick r:id="rId3"/>
              </a:rPr>
              <a:t>https://github.com/rfordatascience/tidytuesday/blob/master/data/2020/2020-02-11/readme.md</a:t>
            </a:r>
            <a:r>
              <a:rPr/>
              <a:t>).</a:t>
            </a:r>
          </a:p>
          <a:p>
            <a:pPr lvl="0" indent="0" marL="0">
              <a:buNone/>
            </a:pPr>
            <a:r>
              <a:rPr/>
              <a:t>You can learn more about the dataset here: </a:t>
            </a:r>
            <a:r>
              <a:rPr>
                <a:hlinkClick r:id="rId4"/>
              </a:rPr>
              <a:t>https://www.kaggle.com/jessemostipak/hotel-booking-demand</a:t>
            </a:r>
          </a:p>
          <a:p>
            <a:pPr lvl="0" indent="0" marL="0">
              <a:buNone/>
            </a:pPr>
            <a:r>
              <a:rPr/>
              <a:t>Run the code below to read in the file ‘hotel_bookings.csv’ into a data frame:</a:t>
            </a:r>
          </a:p>
          <a:p>
            <a:pPr lvl="0" indent="0">
              <a:buNone/>
            </a:pPr>
            <a:r>
              <a:rPr>
                <a:solidFill>
                  <a:srgbClr val="06287E"/>
                </a:solidFill>
                <a:latin typeface="Courier"/>
              </a:rPr>
              <a:t>library</a:t>
            </a:r>
            <a:r>
              <a:rPr>
                <a:latin typeface="Courier"/>
              </a:rPr>
              <a:t>(readr)</a:t>
            </a:r>
            <a:br/>
            <a:r>
              <a:rPr>
                <a:latin typeface="Courier"/>
              </a:rPr>
              <a:t>hotel_bookings </a:t>
            </a:r>
            <a:r>
              <a:rPr>
                <a:solidFill>
                  <a:srgbClr val="007020"/>
                </a:solidFill>
                <a:latin typeface="Courier"/>
              </a:rPr>
              <a:t>&lt;-</a:t>
            </a:r>
            <a:r>
              <a:rPr>
                <a:latin typeface="Courier"/>
              </a:rPr>
              <a:t> </a:t>
            </a:r>
            <a:r>
              <a:rPr>
                <a:solidFill>
                  <a:srgbClr val="06287E"/>
                </a:solidFill>
                <a:latin typeface="Courier"/>
              </a:rPr>
              <a:t>read.csv</a:t>
            </a:r>
            <a:r>
              <a:rPr>
                <a:latin typeface="Courier"/>
              </a:rPr>
              <a:t>(</a:t>
            </a:r>
            <a:r>
              <a:rPr>
                <a:solidFill>
                  <a:srgbClr val="4070A0"/>
                </a:solidFill>
                <a:latin typeface="Courier"/>
              </a:rPr>
              <a:t>"hotel_bookings.csv"</a:t>
            </a:r>
            <a:r>
              <a:rPr>
                <a:latin typeface="Courie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2: Refresh Your Memory</a:t>
            </a:r>
          </a:p>
        </p:txBody>
      </p:sp>
      <p:sp>
        <p:nvSpPr>
          <p:cNvPr id="3" name="Content Placeholder 2"/>
          <p:cNvSpPr>
            <a:spLocks noGrp="1"/>
          </p:cNvSpPr>
          <p:nvPr>
            <p:ph idx="1"/>
          </p:nvPr>
        </p:nvSpPr>
        <p:spPr/>
        <p:txBody>
          <a:bodyPr/>
          <a:lstStyle/>
          <a:p>
            <a:pPr lvl="0" indent="0" marL="0">
              <a:buNone/>
            </a:pPr>
            <a:r>
              <a:rPr/>
              <a:t>By now, you are pretty familiar with this data set. But you can refresh your memory with the </a:t>
            </a:r>
            <a:r>
              <a:rPr>
                <a:latin typeface="Courier"/>
              </a:rPr>
              <a:t>head()</a:t>
            </a:r>
            <a:r>
              <a:rPr/>
              <a:t> and </a:t>
            </a:r>
            <a:r>
              <a:rPr>
                <a:latin typeface="Courier"/>
              </a:rPr>
              <a:t>colnames()</a:t>
            </a:r>
            <a:r>
              <a:rPr/>
              <a:t> functions. Run two code chunks below to get at a sample of the data and also preview all the column names:</a:t>
            </a:r>
          </a:p>
          <a:p>
            <a:pPr lvl="0" indent="0">
              <a:buNone/>
            </a:pPr>
            <a:r>
              <a:rPr>
                <a:solidFill>
                  <a:srgbClr val="06287E"/>
                </a:solidFill>
                <a:latin typeface="Courier"/>
              </a:rPr>
              <a:t>head</a:t>
            </a:r>
            <a:r>
              <a:rPr>
                <a:latin typeface="Courier"/>
              </a:rPr>
              <a:t>(hotel_bookings)</a:t>
            </a:r>
          </a:p>
          <a:p>
            <a:pPr lvl="0" indent="0">
              <a:buNone/>
            </a:pPr>
            <a:r>
              <a:rPr>
                <a:latin typeface="Courier"/>
              </a:rPr>
              <a:t>##          hotel is_canceled lead_time arrival_date_year arrival_date_month
## 1 Resort Hotel           0       342              2015               July
## 2 Resort Hotel           0       737              2015               July
## 3 Resort Hotel           0         7              2015               July
## 4 Resort Hotel           0        13              2015               July
## 5 Resort Hotel           0        14              2015               July
## 6 Resort Hotel           0        14              2015               July
##   arrival_date_week_number arrival_date_day_of_month stays_in_weekend_nights
## 1                       27                         1                       0
## 2                       27                         1                       0
## 3                       27                         1                       0
## 4                       27                         1                       0
## 5                       27                         1                       0
## 6                       27                         1                       0
##   stays_in_week_nights adults children babies meal country market_segment
## 1                    0      2        0      0   BB     PRT         Direct
## 2                    0      2        0      0   BB     PRT         Direct
## 3                    1      1        0      0   BB     GBR         Direct
## 4                    1      1        0      0   BB     GBR      Corporate
## 5                    2      2        0      0   BB     GBR      Online TA
## 6                    2      2        0      0   BB     GBR      Online TA
##   distribution_channel is_repeated_guest previous_cancellations
## 1               Direct                 0                      0
## 2               Direct                 0                      0
## 3               Direct                 0                      0
## 4            Corporate                 0                      0
## 5                TA/TO                 0                      0
## 6                TA/TO                 0                      0
##   previous_bookings_not_canceled reserved_room_type assigned_room_type
## 1                              0                  C                  C
## 2                              0                  C                  C
## 3                              0                  A                  C
## 4                              0                  A                  A
## 5                              0                  A                  A
## 6                              0                  A                  A
##   booking_changes deposit_type agent company days_in_waiting_list customer_type
## 1               3   No Deposit  NULL    NULL                    0     Transient
## 2               4   No Deposit  NULL    NULL                    0     Transient
## 3               0   No Deposit  NULL    NULL                    0     Transient
## 4               0   No Deposit   304    NULL                    0     Transient
## 5               0   No Deposit   240    NULL                    0     Transient
## 6               0   No Deposit   240    NULL                    0     Transient
##   adr required_car_parking_spaces total_of_special_requests reservation_status
## 1   0                           0                         0          Check-Out
## 2   0                           0                         0          Check-Out
## 3  75                           0                         0          Check-Out
## 4  75                           0                         0          Check-Out
## 5  98                           0                         1          Check-Out
## 6  98                           0                         1          Check-Out
##   reservation_status_date
## 1              2015-07-01
## 2              2015-07-01
## 3              2015-07-02
## 4              2015-07-02
## 5              2015-07-03
## 6              2015-07-03</a:t>
            </a:r>
          </a:p>
          <a:p>
            <a:pPr lvl="0" indent="0">
              <a:buNone/>
            </a:pPr>
            <a:r>
              <a:rPr>
                <a:solidFill>
                  <a:srgbClr val="06287E"/>
                </a:solidFill>
                <a:latin typeface="Courier"/>
              </a:rPr>
              <a:t>colnames</a:t>
            </a:r>
            <a:r>
              <a:rPr>
                <a:latin typeface="Courier"/>
              </a:rPr>
              <a:t>(hotel_bookings)</a:t>
            </a:r>
          </a:p>
          <a:p>
            <a:pPr lvl="0" indent="0">
              <a:buNone/>
            </a:pPr>
            <a:r>
              <a:rPr>
                <a:latin typeface="Courier"/>
              </a:rPr>
              <a:t>##  [1] "hotel"                          "is_canceled"                   
##  [3] "lead_time"                      "arrival_date_year"             
##  [5] "arrival_date_month"             "arrival_date_week_number"      
##  [7] "arrival_date_day_of_month"      "stays_in_weekend_nights"       
##  [9] "stays_in_week_nights"           "adults"                        
## [11] "children"                       "babies"                        
## [13] "meal"                           "country"                       
## [15] "market_segment"                 "distribution_channel"          
## [17] "is_repeated_guest"              "previous_cancellations"        
## [19] "previous_bookings_not_canceled" "reserved_room_type"            
## [21] "assigned_room_type"             "booking_changes"               
## [23] "deposit_type"                   "agent"                         
## [25] "company"                        "days_in_waiting_list"          
## [27] "customer_type"                  "adr"                           
## [29] "required_car_parking_spaces"    "total_of_special_requests"     
## [31] "reservation_status"             "reservation_status_date"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3: Install and load the ‘ggplot2’ package (optional)</a:t>
            </a:r>
          </a:p>
        </p:txBody>
      </p:sp>
      <p:sp>
        <p:nvSpPr>
          <p:cNvPr id="3" name="Content Placeholder 2"/>
          <p:cNvSpPr>
            <a:spLocks noGrp="1"/>
          </p:cNvSpPr>
          <p:nvPr>
            <p:ph idx="1"/>
          </p:nvPr>
        </p:nvSpPr>
        <p:spPr/>
        <p:txBody>
          <a:bodyPr/>
          <a:lstStyle/>
          <a:p>
            <a:pPr lvl="0" indent="0" marL="0">
              <a:buNone/>
            </a:pPr>
            <a:r>
              <a:rPr/>
              <a:t>Run the code chunk below to install and load </a:t>
            </a:r>
            <a:r>
              <a:rPr>
                <a:latin typeface="Courier"/>
              </a:rPr>
              <a:t>ggplot2</a:t>
            </a:r>
            <a:r>
              <a:rPr/>
              <a:t> if you don’t have it installed and loaded already. This may take a few minutes!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Step 4: Making a Bar Chart</a:t>
            </a:r>
          </a:p>
        </p:txBody>
      </p:sp>
      <p:sp>
        <p:nvSpPr>
          <p:cNvPr id="4" name="Text Placeholder 3"/>
          <p:cNvSpPr>
            <a:spLocks noGrp="1"/>
          </p:cNvSpPr>
          <p:nvPr>
            <p:ph idx="2" sz="half" type="body"/>
          </p:nvPr>
        </p:nvSpPr>
        <p:spPr/>
        <p:txBody>
          <a:bodyPr/>
          <a:lstStyle/>
          <a:p>
            <a:pPr lvl="0" indent="0" marL="0">
              <a:buNone/>
            </a:pPr>
            <a:r>
              <a:rPr/>
              <a:t>Previously, you used </a:t>
            </a:r>
            <a:r>
              <a:rPr>
                <a:latin typeface="Courier"/>
              </a:rPr>
              <a:t>geom_point</a:t>
            </a:r>
            <a:r>
              <a:rPr/>
              <a:t> to make a scatter plot comparing lead time and number of children. Now, you will use </a:t>
            </a:r>
            <a:r>
              <a:rPr>
                <a:latin typeface="Courier"/>
              </a:rPr>
              <a:t>geom_bar</a:t>
            </a:r>
            <a:r>
              <a:rPr/>
              <a:t> to make a bar chart in this code chunk:</a:t>
            </a:r>
          </a:p>
          <a:p>
            <a:pPr lvl="0" indent="0">
              <a:buNone/>
            </a:pPr>
            <a:r>
              <a:rPr>
                <a:solidFill>
                  <a:srgbClr val="06287E"/>
                </a:solidFill>
                <a:latin typeface="Courier"/>
              </a:rPr>
              <a:t>ggplot</a:t>
            </a:r>
            <a:r>
              <a:rPr>
                <a:latin typeface="Courier"/>
              </a:rPr>
              <a:t>(</a:t>
            </a:r>
            <a:r>
              <a:rPr>
                <a:solidFill>
                  <a:srgbClr val="7D9029"/>
                </a:solidFill>
                <a:latin typeface="Courier"/>
              </a:rPr>
              <a:t>data =</a:t>
            </a:r>
            <a:r>
              <a:rPr>
                <a:latin typeface="Courier"/>
              </a:rPr>
              <a:t> hotel_bookings) </a:t>
            </a:r>
            <a:r>
              <a:rPr>
                <a:solidFill>
                  <a:srgbClr val="4070A0"/>
                </a:solidFill>
                <a:latin typeface="Courier"/>
              </a:rPr>
              <a:t>+</a:t>
            </a:r>
            <a:br/>
            <a:r>
              <a:rPr>
                <a:latin typeface="Courier"/>
              </a:rPr>
              <a:t>  </a:t>
            </a:r>
            <a:r>
              <a:rPr>
                <a:solidFill>
                  <a:srgbClr val="06287E"/>
                </a:solidFill>
                <a:latin typeface="Courier"/>
              </a:rPr>
              <a:t>geom_bar</a:t>
            </a:r>
            <a:r>
              <a:rPr>
                <a:latin typeface="Courier"/>
              </a:rPr>
              <a:t>(</a:t>
            </a:r>
            <a:r>
              <a:rPr>
                <a:solidFill>
                  <a:srgbClr val="7D9029"/>
                </a:solidFill>
                <a:latin typeface="Courier"/>
              </a:rPr>
              <a:t>mapping =</a:t>
            </a:r>
            <a:r>
              <a:rPr>
                <a:latin typeface="Courier"/>
              </a:rPr>
              <a:t> </a:t>
            </a:r>
            <a:r>
              <a:rPr>
                <a:solidFill>
                  <a:srgbClr val="06287E"/>
                </a:solidFill>
                <a:latin typeface="Courier"/>
              </a:rPr>
              <a:t>aes</a:t>
            </a:r>
            <a:r>
              <a:rPr>
                <a:latin typeface="Courier"/>
              </a:rPr>
              <a:t>(</a:t>
            </a:r>
            <a:r>
              <a:rPr>
                <a:solidFill>
                  <a:srgbClr val="7D9029"/>
                </a:solidFill>
                <a:latin typeface="Courier"/>
              </a:rPr>
              <a:t>x =</a:t>
            </a:r>
            <a:r>
              <a:rPr>
                <a:latin typeface="Courier"/>
              </a:rPr>
              <a:t> distribution_channel))</a:t>
            </a:r>
          </a:p>
        </p:txBody>
      </p:sp>
      <p:pic>
        <p:nvPicPr>
          <p:cNvPr descr="04-aesthetics_files/figure-pptx/example%20chart-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Practice quiz</a:t>
            </a:r>
          </a:p>
        </p:txBody>
      </p:sp>
      <p:sp>
        <p:nvSpPr>
          <p:cNvPr id="3" name="Content Placeholder 2"/>
          <p:cNvSpPr>
            <a:spLocks noGrp="1"/>
          </p:cNvSpPr>
          <p:nvPr>
            <p:ph idx="1"/>
          </p:nvPr>
        </p:nvSpPr>
        <p:spPr/>
        <p:txBody>
          <a:bodyPr/>
          <a:lstStyle/>
          <a:p>
            <a:pPr lvl="0" indent="0" marL="0">
              <a:buNone/>
            </a:pPr>
            <a:r>
              <a:rPr/>
              <a:t>Use the bar chart you created to answer this question: what distribution type has the most number of bookings? Note your answer and respond in the Coursera platform.</a:t>
            </a:r>
          </a:p>
          <a:p>
            <a:pPr lvl="0" indent="0" marL="0">
              <a:buNone/>
            </a:pPr>
            <a:r>
              <a:rPr/>
              <a:t>A: TA/TO B: Direct C: GDS D: Corporate Answer: A. The TA/TO distribution type has the most number of bookings.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Step 5: Diving deeper into bar charts</a:t>
            </a:r>
          </a:p>
        </p:txBody>
      </p:sp>
      <p:sp>
        <p:nvSpPr>
          <p:cNvPr id="4" name="Text Placeholder 3"/>
          <p:cNvSpPr>
            <a:spLocks noGrp="1"/>
          </p:cNvSpPr>
          <p:nvPr>
            <p:ph idx="2" sz="half" type="body"/>
          </p:nvPr>
        </p:nvSpPr>
        <p:spPr/>
        <p:txBody>
          <a:bodyPr/>
          <a:lstStyle/>
          <a:p>
            <a:pPr lvl="0" indent="0" marL="0">
              <a:buNone/>
            </a:pPr>
            <a:r>
              <a:rPr/>
              <a:t>After exploring your bar chart, your stakeholder has more questions. Now they want to know if the number of bookings for each distribution type is different depending on whether or not there was a deposit or what market segment they represent.</a:t>
            </a:r>
          </a:p>
          <a:p>
            <a:pPr lvl="0" indent="0" marL="0">
              <a:buNone/>
            </a:pPr>
            <a:r>
              <a:rPr/>
              <a:t>Try running the code below to answer the question about deposits. You will use ‘fill=deposit_type’ to accomplish this.</a:t>
            </a:r>
          </a:p>
        </p:txBody>
      </p:sp>
      <p:pic>
        <p:nvPicPr>
          <p:cNvPr descr="04-aesthetics_files/figure-pptx/pressure-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Now try running the code below to answer the question about different market segments. You will use ‘fill=market_segment’ to accomplish this.</a:t>
            </a:r>
          </a:p>
        </p:txBody>
      </p:sp>
      <p:pic>
        <p:nvPicPr>
          <p:cNvPr descr="04-aesthetics_files/figure-pptx/pressure-1-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 ## Step 6: Facets galore</a:t>
            </a:r>
          </a:p>
          <a:p>
            <a:pPr lvl="0" indent="0" marL="0">
              <a:buNone/>
            </a:pPr>
            <a:r>
              <a:rPr/>
              <a:t>After reviewing the new charts, your stakeholder asks you to create separate charts for each deposit type and market segment to help them understand the differences more clearly.</a:t>
            </a:r>
          </a:p>
          <a:p>
            <a:pPr lvl="0" indent="0" marL="0">
              <a:buNone/>
            </a:pPr>
            <a:r>
              <a:rPr/>
              <a:t>Run the code chunk below to create a different chart for each deposit type:</a:t>
            </a:r>
          </a:p>
          <a:p>
            <a:pPr lvl="0" indent="0">
              <a:buNone/>
            </a:pPr>
            <a:r>
              <a:rPr>
                <a:solidFill>
                  <a:srgbClr val="06287E"/>
                </a:solidFill>
                <a:latin typeface="Courier"/>
              </a:rPr>
              <a:t>ggplot</a:t>
            </a:r>
            <a:r>
              <a:rPr>
                <a:latin typeface="Courier"/>
              </a:rPr>
              <a:t>(</a:t>
            </a:r>
            <a:r>
              <a:rPr>
                <a:solidFill>
                  <a:srgbClr val="7D9029"/>
                </a:solidFill>
                <a:latin typeface="Courier"/>
              </a:rPr>
              <a:t>data =</a:t>
            </a:r>
            <a:r>
              <a:rPr>
                <a:latin typeface="Courier"/>
              </a:rPr>
              <a:t> hotel_bookings) </a:t>
            </a:r>
            <a:r>
              <a:rPr>
                <a:solidFill>
                  <a:srgbClr val="4070A0"/>
                </a:solidFill>
                <a:latin typeface="Courier"/>
              </a:rPr>
              <a:t>+</a:t>
            </a:r>
            <a:br/>
            <a:r>
              <a:rPr>
                <a:latin typeface="Courier"/>
              </a:rPr>
              <a:t>  </a:t>
            </a:r>
            <a:r>
              <a:rPr>
                <a:solidFill>
                  <a:srgbClr val="06287E"/>
                </a:solidFill>
                <a:latin typeface="Courier"/>
              </a:rPr>
              <a:t>geom_bar</a:t>
            </a:r>
            <a:r>
              <a:rPr>
                <a:latin typeface="Courier"/>
              </a:rPr>
              <a:t>(</a:t>
            </a:r>
            <a:r>
              <a:rPr>
                <a:solidFill>
                  <a:srgbClr val="7D9029"/>
                </a:solidFill>
                <a:latin typeface="Courier"/>
              </a:rPr>
              <a:t>mapping =</a:t>
            </a:r>
            <a:r>
              <a:rPr>
                <a:latin typeface="Courier"/>
              </a:rPr>
              <a:t> </a:t>
            </a:r>
            <a:r>
              <a:rPr>
                <a:solidFill>
                  <a:srgbClr val="06287E"/>
                </a:solidFill>
                <a:latin typeface="Courier"/>
              </a:rPr>
              <a:t>aes</a:t>
            </a:r>
            <a:r>
              <a:rPr>
                <a:latin typeface="Courier"/>
              </a:rPr>
              <a:t>(</a:t>
            </a:r>
            <a:r>
              <a:rPr>
                <a:solidFill>
                  <a:srgbClr val="7D9029"/>
                </a:solidFill>
                <a:latin typeface="Courier"/>
              </a:rPr>
              <a:t>x =</a:t>
            </a:r>
            <a:r>
              <a:rPr>
                <a:latin typeface="Courier"/>
              </a:rPr>
              <a:t> distribution_channel)) </a:t>
            </a:r>
            <a:r>
              <a:rPr>
                <a:solidFill>
                  <a:srgbClr val="4070A0"/>
                </a:solidFill>
                <a:latin typeface="Courier"/>
              </a:rPr>
              <a:t>+</a:t>
            </a:r>
            <a:br/>
            <a:r>
              <a:rPr>
                <a:latin typeface="Courier"/>
              </a:rPr>
              <a:t>  </a:t>
            </a:r>
            <a:r>
              <a:rPr>
                <a:solidFill>
                  <a:srgbClr val="06287E"/>
                </a:solidFill>
                <a:latin typeface="Courier"/>
              </a:rPr>
              <a:t>facet_wrap</a:t>
            </a:r>
            <a:r>
              <a:rPr>
                <a:latin typeface="Courier"/>
              </a:rPr>
              <a:t>(</a:t>
            </a:r>
            <a:r>
              <a:rPr>
                <a:solidFill>
                  <a:srgbClr val="4070A0"/>
                </a:solidFill>
                <a:latin typeface="Courier"/>
              </a:rPr>
              <a:t>~</a:t>
            </a:r>
            <a:r>
              <a:rPr>
                <a:latin typeface="Courier"/>
              </a:rPr>
              <a:t>deposit_type)</a:t>
            </a:r>
          </a:p>
        </p:txBody>
      </p:sp>
      <p:pic>
        <p:nvPicPr>
          <p:cNvPr descr="04-aesthetics_files/figure-pptx/creating%20a%20plot-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Run the code chunk below to create a different chart for each market segment:</a:t>
            </a:r>
          </a:p>
          <a:p>
            <a:pPr lvl="0" indent="0">
              <a:buNone/>
            </a:pPr>
            <a:r>
              <a:rPr>
                <a:solidFill>
                  <a:srgbClr val="06287E"/>
                </a:solidFill>
                <a:latin typeface="Courier"/>
              </a:rPr>
              <a:t>ggplot</a:t>
            </a:r>
            <a:r>
              <a:rPr>
                <a:latin typeface="Courier"/>
              </a:rPr>
              <a:t>(</a:t>
            </a:r>
            <a:r>
              <a:rPr>
                <a:solidFill>
                  <a:srgbClr val="7D9029"/>
                </a:solidFill>
                <a:latin typeface="Courier"/>
              </a:rPr>
              <a:t>data =</a:t>
            </a:r>
            <a:r>
              <a:rPr>
                <a:latin typeface="Courier"/>
              </a:rPr>
              <a:t> hotel_bookings) </a:t>
            </a:r>
            <a:r>
              <a:rPr>
                <a:solidFill>
                  <a:srgbClr val="4070A0"/>
                </a:solidFill>
                <a:latin typeface="Courier"/>
              </a:rPr>
              <a:t>+</a:t>
            </a:r>
            <a:br/>
            <a:r>
              <a:rPr>
                <a:latin typeface="Courier"/>
              </a:rPr>
              <a:t>  </a:t>
            </a:r>
            <a:r>
              <a:rPr>
                <a:solidFill>
                  <a:srgbClr val="06287E"/>
                </a:solidFill>
                <a:latin typeface="Courier"/>
              </a:rPr>
              <a:t>geom_bar</a:t>
            </a:r>
            <a:r>
              <a:rPr>
                <a:latin typeface="Courier"/>
              </a:rPr>
              <a:t>(</a:t>
            </a:r>
            <a:r>
              <a:rPr>
                <a:solidFill>
                  <a:srgbClr val="7D9029"/>
                </a:solidFill>
                <a:latin typeface="Courier"/>
              </a:rPr>
              <a:t>mapping =</a:t>
            </a:r>
            <a:r>
              <a:rPr>
                <a:latin typeface="Courier"/>
              </a:rPr>
              <a:t> </a:t>
            </a:r>
            <a:r>
              <a:rPr>
                <a:solidFill>
                  <a:srgbClr val="06287E"/>
                </a:solidFill>
                <a:latin typeface="Courier"/>
              </a:rPr>
              <a:t>aes</a:t>
            </a:r>
            <a:r>
              <a:rPr>
                <a:latin typeface="Courier"/>
              </a:rPr>
              <a:t>(</a:t>
            </a:r>
            <a:r>
              <a:rPr>
                <a:solidFill>
                  <a:srgbClr val="7D9029"/>
                </a:solidFill>
                <a:latin typeface="Courier"/>
              </a:rPr>
              <a:t>x =</a:t>
            </a:r>
            <a:r>
              <a:rPr>
                <a:latin typeface="Courier"/>
              </a:rPr>
              <a:t> distribution_channel)) </a:t>
            </a:r>
            <a:r>
              <a:rPr>
                <a:solidFill>
                  <a:srgbClr val="4070A0"/>
                </a:solidFill>
                <a:latin typeface="Courier"/>
              </a:rPr>
              <a:t>+</a:t>
            </a:r>
            <a:br/>
            <a:r>
              <a:rPr>
                <a:latin typeface="Courier"/>
              </a:rPr>
              <a:t>  </a:t>
            </a:r>
            <a:r>
              <a:rPr>
                <a:solidFill>
                  <a:srgbClr val="06287E"/>
                </a:solidFill>
                <a:latin typeface="Courier"/>
              </a:rPr>
              <a:t>facet_wrap</a:t>
            </a:r>
            <a:r>
              <a:rPr>
                <a:latin typeface="Courier"/>
              </a:rPr>
              <a:t>(</a:t>
            </a:r>
            <a:r>
              <a:rPr>
                <a:solidFill>
                  <a:srgbClr val="4070A0"/>
                </a:solidFill>
                <a:latin typeface="Courier"/>
              </a:rPr>
              <a:t>~</a:t>
            </a:r>
            <a:r>
              <a:rPr>
                <a:latin typeface="Courier"/>
              </a:rPr>
              <a:t>market_segment)</a:t>
            </a:r>
          </a:p>
        </p:txBody>
      </p:sp>
      <p:pic>
        <p:nvPicPr>
          <p:cNvPr descr="04-aesthetics_files/figure-pptx/creating%20a%20plot-2-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The </a:t>
            </a:r>
            <a:r>
              <a:rPr>
                <a:latin typeface="Courier"/>
              </a:rPr>
              <a:t>facet_grid</a:t>
            </a:r>
            <a:r>
              <a:rPr/>
              <a:t> function does something similar. The main difference is that </a:t>
            </a:r>
            <a:r>
              <a:rPr>
                <a:latin typeface="Courier"/>
              </a:rPr>
              <a:t>facet_grid</a:t>
            </a:r>
            <a:r>
              <a:rPr/>
              <a:t> will include plots even if they are empty. Run the code chunk below to check it out:</a:t>
            </a:r>
          </a:p>
          <a:p>
            <a:pPr lvl="0" indent="0">
              <a:buNone/>
            </a:pPr>
            <a:r>
              <a:rPr>
                <a:solidFill>
                  <a:srgbClr val="06287E"/>
                </a:solidFill>
                <a:latin typeface="Courier"/>
              </a:rPr>
              <a:t>ggplot</a:t>
            </a:r>
            <a:r>
              <a:rPr>
                <a:latin typeface="Courier"/>
              </a:rPr>
              <a:t>(</a:t>
            </a:r>
            <a:r>
              <a:rPr>
                <a:solidFill>
                  <a:srgbClr val="7D9029"/>
                </a:solidFill>
                <a:latin typeface="Courier"/>
              </a:rPr>
              <a:t>data =</a:t>
            </a:r>
            <a:r>
              <a:rPr>
                <a:latin typeface="Courier"/>
              </a:rPr>
              <a:t> hotel_bookings) </a:t>
            </a:r>
            <a:r>
              <a:rPr>
                <a:solidFill>
                  <a:srgbClr val="4070A0"/>
                </a:solidFill>
                <a:latin typeface="Courier"/>
              </a:rPr>
              <a:t>+</a:t>
            </a:r>
            <a:br/>
            <a:r>
              <a:rPr>
                <a:latin typeface="Courier"/>
              </a:rPr>
              <a:t>  </a:t>
            </a:r>
            <a:r>
              <a:rPr>
                <a:solidFill>
                  <a:srgbClr val="06287E"/>
                </a:solidFill>
                <a:latin typeface="Courier"/>
              </a:rPr>
              <a:t>geom_bar</a:t>
            </a:r>
            <a:r>
              <a:rPr>
                <a:latin typeface="Courier"/>
              </a:rPr>
              <a:t>(</a:t>
            </a:r>
            <a:r>
              <a:rPr>
                <a:solidFill>
                  <a:srgbClr val="7D9029"/>
                </a:solidFill>
                <a:latin typeface="Courier"/>
              </a:rPr>
              <a:t>mapping =</a:t>
            </a:r>
            <a:r>
              <a:rPr>
                <a:latin typeface="Courier"/>
              </a:rPr>
              <a:t> </a:t>
            </a:r>
            <a:r>
              <a:rPr>
                <a:solidFill>
                  <a:srgbClr val="06287E"/>
                </a:solidFill>
                <a:latin typeface="Courier"/>
              </a:rPr>
              <a:t>aes</a:t>
            </a:r>
            <a:r>
              <a:rPr>
                <a:latin typeface="Courier"/>
              </a:rPr>
              <a:t>(</a:t>
            </a:r>
            <a:r>
              <a:rPr>
                <a:solidFill>
                  <a:srgbClr val="7D9029"/>
                </a:solidFill>
                <a:latin typeface="Courier"/>
              </a:rPr>
              <a:t>x =</a:t>
            </a:r>
            <a:r>
              <a:rPr>
                <a:latin typeface="Courier"/>
              </a:rPr>
              <a:t> distribution_channel)) </a:t>
            </a:r>
            <a:r>
              <a:rPr>
                <a:solidFill>
                  <a:srgbClr val="4070A0"/>
                </a:solidFill>
                <a:latin typeface="Courier"/>
              </a:rPr>
              <a:t>+</a:t>
            </a:r>
            <a:br/>
            <a:r>
              <a:rPr>
                <a:latin typeface="Courier"/>
              </a:rPr>
              <a:t>  </a:t>
            </a:r>
            <a:r>
              <a:rPr>
                <a:solidFill>
                  <a:srgbClr val="06287E"/>
                </a:solidFill>
                <a:latin typeface="Courier"/>
              </a:rPr>
              <a:t>facet_grid</a:t>
            </a:r>
            <a:r>
              <a:rPr>
                <a:latin typeface="Courier"/>
              </a:rPr>
              <a:t>(</a:t>
            </a:r>
            <a:r>
              <a:rPr>
                <a:solidFill>
                  <a:srgbClr val="4070A0"/>
                </a:solidFill>
                <a:latin typeface="Courier"/>
              </a:rPr>
              <a:t>~</a:t>
            </a:r>
            <a:r>
              <a:rPr>
                <a:latin typeface="Courier"/>
              </a:rPr>
              <a:t>deposit_type)</a:t>
            </a:r>
          </a:p>
        </p:txBody>
      </p:sp>
      <p:pic>
        <p:nvPicPr>
          <p:cNvPr descr="04-aesthetics_files/figure-pptx/creating%20a%20plot-3-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Now, you could put all of this in one chart and explore the differences by deposit type and market segment.</a:t>
            </a:r>
          </a:p>
          <a:p>
            <a:pPr lvl="0" indent="0" marL="0">
              <a:buNone/>
            </a:pPr>
            <a:r>
              <a:rPr/>
              <a:t>Run the code chunk below to find out; notice how the ~ character is being used before the variables that the chart is being split by:</a:t>
            </a:r>
          </a:p>
          <a:p>
            <a:pPr lvl="0" indent="0">
              <a:buNone/>
            </a:pPr>
            <a:r>
              <a:rPr>
                <a:solidFill>
                  <a:srgbClr val="06287E"/>
                </a:solidFill>
                <a:latin typeface="Courier"/>
              </a:rPr>
              <a:t>ggplot</a:t>
            </a:r>
            <a:r>
              <a:rPr>
                <a:latin typeface="Courier"/>
              </a:rPr>
              <a:t>(</a:t>
            </a:r>
            <a:r>
              <a:rPr>
                <a:solidFill>
                  <a:srgbClr val="7D9029"/>
                </a:solidFill>
                <a:latin typeface="Courier"/>
              </a:rPr>
              <a:t>data =</a:t>
            </a:r>
            <a:r>
              <a:rPr>
                <a:latin typeface="Courier"/>
              </a:rPr>
              <a:t> hotel_bookings) </a:t>
            </a:r>
            <a:r>
              <a:rPr>
                <a:solidFill>
                  <a:srgbClr val="4070A0"/>
                </a:solidFill>
                <a:latin typeface="Courier"/>
              </a:rPr>
              <a:t>+</a:t>
            </a:r>
            <a:br/>
            <a:r>
              <a:rPr>
                <a:latin typeface="Courier"/>
              </a:rPr>
              <a:t>  </a:t>
            </a:r>
            <a:r>
              <a:rPr>
                <a:solidFill>
                  <a:srgbClr val="06287E"/>
                </a:solidFill>
                <a:latin typeface="Courier"/>
              </a:rPr>
              <a:t>geom_bar</a:t>
            </a:r>
            <a:r>
              <a:rPr>
                <a:latin typeface="Courier"/>
              </a:rPr>
              <a:t>(</a:t>
            </a:r>
            <a:r>
              <a:rPr>
                <a:solidFill>
                  <a:srgbClr val="7D9029"/>
                </a:solidFill>
                <a:latin typeface="Courier"/>
              </a:rPr>
              <a:t>mapping =</a:t>
            </a:r>
            <a:r>
              <a:rPr>
                <a:latin typeface="Courier"/>
              </a:rPr>
              <a:t> </a:t>
            </a:r>
            <a:r>
              <a:rPr>
                <a:solidFill>
                  <a:srgbClr val="06287E"/>
                </a:solidFill>
                <a:latin typeface="Courier"/>
              </a:rPr>
              <a:t>aes</a:t>
            </a:r>
            <a:r>
              <a:rPr>
                <a:latin typeface="Courier"/>
              </a:rPr>
              <a:t>(</a:t>
            </a:r>
            <a:r>
              <a:rPr>
                <a:solidFill>
                  <a:srgbClr val="7D9029"/>
                </a:solidFill>
                <a:latin typeface="Courier"/>
              </a:rPr>
              <a:t>x =</a:t>
            </a:r>
            <a:r>
              <a:rPr>
                <a:latin typeface="Courier"/>
              </a:rPr>
              <a:t> distribution_channel)) </a:t>
            </a:r>
            <a:r>
              <a:rPr>
                <a:solidFill>
                  <a:srgbClr val="4070A0"/>
                </a:solidFill>
                <a:latin typeface="Courier"/>
              </a:rPr>
              <a:t>+</a:t>
            </a:r>
            <a:br/>
            <a:r>
              <a:rPr>
                <a:latin typeface="Courier"/>
              </a:rPr>
              <a:t>  </a:t>
            </a:r>
            <a:r>
              <a:rPr>
                <a:solidFill>
                  <a:srgbClr val="06287E"/>
                </a:solidFill>
                <a:latin typeface="Courier"/>
              </a:rPr>
              <a:t>facet_wrap</a:t>
            </a:r>
            <a:r>
              <a:rPr>
                <a:latin typeface="Courier"/>
              </a:rPr>
              <a:t>(</a:t>
            </a:r>
            <a:r>
              <a:rPr>
                <a:solidFill>
                  <a:srgbClr val="4070A0"/>
                </a:solidFill>
                <a:latin typeface="Courier"/>
              </a:rPr>
              <a:t>~</a:t>
            </a:r>
            <a:r>
              <a:rPr>
                <a:latin typeface="Courier"/>
              </a:rPr>
              <a:t>deposit_type</a:t>
            </a:r>
            <a:r>
              <a:rPr>
                <a:solidFill>
                  <a:srgbClr val="4070A0"/>
                </a:solidFill>
                <a:latin typeface="Courier"/>
              </a:rPr>
              <a:t>~</a:t>
            </a:r>
            <a:r>
              <a:rPr>
                <a:latin typeface="Courier"/>
              </a:rPr>
              <a:t>market_segment)</a:t>
            </a:r>
          </a:p>
        </p:txBody>
      </p:sp>
      <p:pic>
        <p:nvPicPr>
          <p:cNvPr descr="04-aesthetics_files/figure-pptx/creating%20a%20plot-4-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 Aesthetics Solutions</dc:title>
  <dc:creator/>
  <cp:keywords/>
  <dcterms:created xsi:type="dcterms:W3CDTF">2025-08-29T17:50:08Z</dcterms:created>
  <dcterms:modified xsi:type="dcterms:W3CDTF">2025-08-29T17:50:08Z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powerpoint_presentation</vt:lpwstr>
  </property>
</Properties>
</file>